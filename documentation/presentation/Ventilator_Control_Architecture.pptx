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0"/>
  </p:notesMasterIdLst>
  <p:handoutMasterIdLst>
    <p:handoutMasterId r:id="rId3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4" autoAdjust="0"/>
    <p:restoredTop sz="74115" autoAdjust="0"/>
  </p:normalViewPr>
  <p:slideViewPr>
    <p:cSldViewPr snapToGrid="0" showGuides="1">
      <p:cViewPr varScale="1">
        <p:scale>
          <a:sx n="78" d="100"/>
          <a:sy n="78" d="100"/>
        </p:scale>
        <p:origin x="1482" y="9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23/03/2026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23/03/2026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a:t>
            </a:fld>
            <a:endParaRPr lang="en-GB" dirty="0"/>
          </a:p>
        </p:txBody>
      </p:sp>
    </p:spTree>
    <p:extLst>
      <p:ext uri="{BB962C8B-B14F-4D97-AF65-F5344CB8AC3E}">
        <p14:creationId xmlns:p14="http://schemas.microsoft.com/office/powerpoint/2010/main" val="1250794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2</a:t>
            </a:fld>
            <a:endParaRPr lang="en-GB" dirty="0"/>
          </a:p>
        </p:txBody>
      </p:sp>
    </p:spTree>
    <p:extLst>
      <p:ext uri="{BB962C8B-B14F-4D97-AF65-F5344CB8AC3E}">
        <p14:creationId xmlns:p14="http://schemas.microsoft.com/office/powerpoint/2010/main" val="3752190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3</a:t>
            </a:fld>
            <a:endParaRPr lang="en-GB" dirty="0"/>
          </a:p>
        </p:txBody>
      </p:sp>
    </p:spTree>
    <p:extLst>
      <p:ext uri="{BB962C8B-B14F-4D97-AF65-F5344CB8AC3E}">
        <p14:creationId xmlns:p14="http://schemas.microsoft.com/office/powerpoint/2010/main" val="3042099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4</a:t>
            </a:fld>
            <a:endParaRPr lang="en-GB" dirty="0"/>
          </a:p>
        </p:txBody>
      </p:sp>
    </p:spTree>
    <p:extLst>
      <p:ext uri="{BB962C8B-B14F-4D97-AF65-F5344CB8AC3E}">
        <p14:creationId xmlns:p14="http://schemas.microsoft.com/office/powerpoint/2010/main" val="1330560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23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23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23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23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23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23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23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23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23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23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23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23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23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23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23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23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23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23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23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23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23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23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23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23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CFDC-0B5E-49ED-8E43-7F408FFBD7EF}"/>
              </a:ext>
            </a:extLst>
          </p:cNvPr>
          <p:cNvSpPr>
            <a:spLocks noGrp="1"/>
          </p:cNvSpPr>
          <p:nvPr>
            <p:ph type="ctrTitle"/>
          </p:nvPr>
        </p:nvSpPr>
        <p:spPr/>
        <p:txBody>
          <a:bodyPr/>
          <a:lstStyle/>
          <a:p>
            <a:r>
              <a:rPr lang="en-GB" dirty="0" err="1"/>
              <a:t>LundaLoggern</a:t>
            </a:r>
            <a:endParaRPr lang="en-GB" dirty="0"/>
          </a:p>
        </p:txBody>
      </p:sp>
      <p:sp>
        <p:nvSpPr>
          <p:cNvPr id="3" name="Subtitle 2">
            <a:extLst>
              <a:ext uri="{FF2B5EF4-FFF2-40B4-BE49-F238E27FC236}">
                <a16:creationId xmlns:a16="http://schemas.microsoft.com/office/drawing/2014/main" id="{DE2E746C-6F83-47C7-B534-B7C10E234DD7}"/>
              </a:ext>
            </a:extLst>
          </p:cNvPr>
          <p:cNvSpPr>
            <a:spLocks noGrp="1"/>
          </p:cNvSpPr>
          <p:nvPr>
            <p:ph type="subTitle" idx="1"/>
          </p:nvPr>
        </p:nvSpPr>
        <p:spPr/>
        <p:txBody>
          <a:bodyPr/>
          <a:lstStyle/>
          <a:p>
            <a:r>
              <a:rPr lang="en-GB"/>
              <a:t>En datalogger</a:t>
            </a:r>
            <a:endParaRPr lang="en-GB" dirty="0"/>
          </a:p>
        </p:txBody>
      </p:sp>
      <p:sp>
        <p:nvSpPr>
          <p:cNvPr id="4" name="Text Placeholder 3">
            <a:extLst>
              <a:ext uri="{FF2B5EF4-FFF2-40B4-BE49-F238E27FC236}">
                <a16:creationId xmlns:a16="http://schemas.microsoft.com/office/drawing/2014/main" id="{6353B284-8BB4-4513-9C98-65966503C636}"/>
              </a:ext>
            </a:extLst>
          </p:cNvPr>
          <p:cNvSpPr>
            <a:spLocks noGrp="1"/>
          </p:cNvSpPr>
          <p:nvPr>
            <p:ph type="body" sz="quarter" idx="13"/>
          </p:nvPr>
        </p:nvSpPr>
        <p:spPr/>
        <p:txBody>
          <a:bodyPr/>
          <a:lstStyle/>
          <a:p>
            <a:r>
              <a:rPr lang="en-GB" dirty="0"/>
              <a:t>Åke 2026-02-27</a:t>
            </a:r>
          </a:p>
        </p:txBody>
      </p:sp>
    </p:spTree>
    <p:extLst>
      <p:ext uri="{BB962C8B-B14F-4D97-AF65-F5344CB8AC3E}">
        <p14:creationId xmlns:p14="http://schemas.microsoft.com/office/powerpoint/2010/main" val="1972002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hand holding a device with a screen&#10;&#10;AI-generated content may be incorrect.">
            <a:extLst>
              <a:ext uri="{FF2B5EF4-FFF2-40B4-BE49-F238E27FC236}">
                <a16:creationId xmlns:a16="http://schemas.microsoft.com/office/drawing/2014/main" id="{0CACF70D-8500-C214-35B7-8F083982AD69}"/>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rcRect l="22662" t="32514" r="10342" b="23846"/>
          <a:stretch>
            <a:fillRect/>
          </a:stretch>
        </p:blipFill>
        <p:spPr>
          <a:xfrm>
            <a:off x="827902" y="1758926"/>
            <a:ext cx="4341609" cy="2121096"/>
          </a:xfrm>
        </p:spPr>
      </p:pic>
      <p:pic>
        <p:nvPicPr>
          <p:cNvPr id="9" name="Content Placeholder 8" descr="A blue symbol of a baby and lungs&#10;&#10;AI-generated content may be incorrect.">
            <a:extLst>
              <a:ext uri="{FF2B5EF4-FFF2-40B4-BE49-F238E27FC236}">
                <a16:creationId xmlns:a16="http://schemas.microsoft.com/office/drawing/2014/main" id="{FA38D36C-3E0E-AD71-AC43-C725C5CFB340}"/>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9030" r="-1" b="-1"/>
          <a:stretch>
            <a:fillRect/>
          </a:stretch>
        </p:blipFill>
        <p:spPr>
          <a:xfrm>
            <a:off x="6938954" y="10"/>
            <a:ext cx="5253046" cy="5774480"/>
          </a:xfrm>
          <a:noFill/>
        </p:spPr>
      </p:pic>
      <p:sp>
        <p:nvSpPr>
          <p:cNvPr id="4" name="Title 3">
            <a:extLst>
              <a:ext uri="{FF2B5EF4-FFF2-40B4-BE49-F238E27FC236}">
                <a16:creationId xmlns:a16="http://schemas.microsoft.com/office/drawing/2014/main" id="{50CA56AD-2B8B-8453-A280-43F895C33231}"/>
              </a:ext>
            </a:extLst>
          </p:cNvPr>
          <p:cNvSpPr>
            <a:spLocks noGrp="1"/>
          </p:cNvSpPr>
          <p:nvPr>
            <p:ph type="title"/>
          </p:nvPr>
        </p:nvSpPr>
        <p:spPr>
          <a:xfrm>
            <a:off x="696000" y="412225"/>
            <a:ext cx="5220000" cy="676800"/>
          </a:xfrm>
        </p:spPr>
        <p:txBody>
          <a:bodyPr wrap="square" anchor="b">
            <a:normAutofit/>
          </a:bodyPr>
          <a:lstStyle/>
          <a:p>
            <a:r>
              <a:rPr lang="sv-SE" dirty="0" err="1"/>
              <a:t>LundaLoggern</a:t>
            </a:r>
            <a:endParaRPr lang="sv-SE" dirty="0"/>
          </a:p>
        </p:txBody>
      </p:sp>
      <p:sp>
        <p:nvSpPr>
          <p:cNvPr id="16" name="Text Placeholder 4">
            <a:extLst>
              <a:ext uri="{FF2B5EF4-FFF2-40B4-BE49-F238E27FC236}">
                <a16:creationId xmlns:a16="http://schemas.microsoft.com/office/drawing/2014/main" id="{72BFD0B2-EB1C-BF8B-7575-AC725BA46EF6}"/>
              </a:ext>
            </a:extLst>
          </p:cNvPr>
          <p:cNvSpPr>
            <a:spLocks noGrp="1"/>
          </p:cNvSpPr>
          <p:nvPr>
            <p:ph type="body" sz="quarter" idx="14"/>
          </p:nvPr>
        </p:nvSpPr>
        <p:spPr>
          <a:xfrm>
            <a:off x="695325" y="1091691"/>
            <a:ext cx="5220000" cy="345600"/>
          </a:xfrm>
        </p:spPr>
        <p:txBody>
          <a:bodyPr/>
          <a:lstStyle/>
          <a:p>
            <a:endParaRPr lang="en-US"/>
          </a:p>
        </p:txBody>
      </p:sp>
      <p:sp>
        <p:nvSpPr>
          <p:cNvPr id="18" name="Footer Placeholder 5">
            <a:extLst>
              <a:ext uri="{FF2B5EF4-FFF2-40B4-BE49-F238E27FC236}">
                <a16:creationId xmlns:a16="http://schemas.microsoft.com/office/drawing/2014/main" id="{CB6808DB-764D-E8FC-5DFD-AD0575E8833B}"/>
              </a:ext>
            </a:extLst>
          </p:cNvPr>
          <p:cNvSpPr>
            <a:spLocks noGrp="1"/>
          </p:cNvSpPr>
          <p:nvPr>
            <p:ph type="ftr" sz="quarter" idx="17"/>
          </p:nvPr>
        </p:nvSpPr>
        <p:spPr>
          <a:xfrm>
            <a:off x="696000" y="6408000"/>
            <a:ext cx="8640000" cy="108000"/>
          </a:xfrm>
        </p:spPr>
        <p:txBody>
          <a:bodyPr/>
          <a:lstStyle/>
          <a:p>
            <a:pPr>
              <a:spcAft>
                <a:spcPts val="600"/>
              </a:spcAft>
            </a:pPr>
            <a:r>
              <a:rPr lang="en-GB"/>
              <a:t>Presentation name</a:t>
            </a:r>
          </a:p>
        </p:txBody>
      </p:sp>
      <p:sp>
        <p:nvSpPr>
          <p:cNvPr id="7" name="Slide Number Placeholder 6">
            <a:extLst>
              <a:ext uri="{FF2B5EF4-FFF2-40B4-BE49-F238E27FC236}">
                <a16:creationId xmlns:a16="http://schemas.microsoft.com/office/drawing/2014/main" id="{9877CEF5-1A3F-62D0-1392-0D71EEAA830B}"/>
              </a:ext>
            </a:extLst>
          </p:cNvPr>
          <p:cNvSpPr>
            <a:spLocks noGrp="1"/>
          </p:cNvSpPr>
          <p:nvPr>
            <p:ph type="sldNum" sz="quarter" idx="18"/>
          </p:nvPr>
        </p:nvSpPr>
        <p:spPr>
          <a:xfrm>
            <a:off x="696000" y="6559200"/>
            <a:ext cx="8640000" cy="108000"/>
          </a:xfrm>
        </p:spPr>
        <p:txBody>
          <a:bodyPr anchor="ctr">
            <a:normAutofit/>
          </a:bodyPr>
          <a:lstStyle/>
          <a:p>
            <a:pPr>
              <a:spcAft>
                <a:spcPts val="600"/>
              </a:spcAft>
            </a:pPr>
            <a:r>
              <a:rPr lang="en-GB" sz="700"/>
              <a:t>Page </a:t>
            </a:r>
            <a:fld id="{C2FE92B8-3297-49BF-866E-FDAA607BBC0B}" type="slidenum">
              <a:rPr lang="en-GB" sz="700" smtClean="0"/>
              <a:pPr>
                <a:spcAft>
                  <a:spcPts val="600"/>
                </a:spcAft>
              </a:pPr>
              <a:t>2</a:t>
            </a:fld>
            <a:endParaRPr lang="en-GB" sz="700"/>
          </a:p>
        </p:txBody>
      </p:sp>
    </p:spTree>
    <p:extLst>
      <p:ext uri="{BB962C8B-B14F-4D97-AF65-F5344CB8AC3E}">
        <p14:creationId xmlns:p14="http://schemas.microsoft.com/office/powerpoint/2010/main" val="136455160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8BFD-0482-EC5C-4E16-C2CE204129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2B1D4D-D34C-22AA-F91A-A5FE9ECE1E3B}"/>
              </a:ext>
            </a:extLst>
          </p:cNvPr>
          <p:cNvSpPr>
            <a:spLocks noGrp="1"/>
          </p:cNvSpPr>
          <p:nvPr>
            <p:ph type="title"/>
          </p:nvPr>
        </p:nvSpPr>
        <p:spPr/>
        <p:txBody>
          <a:bodyPr/>
          <a:lstStyle/>
          <a:p>
            <a:r>
              <a:rPr lang="sv-SE" dirty="0" err="1"/>
              <a:t>LundaLoggern</a:t>
            </a:r>
            <a:endParaRPr lang="sv-SE" dirty="0"/>
          </a:p>
        </p:txBody>
      </p:sp>
      <p:sp>
        <p:nvSpPr>
          <p:cNvPr id="5" name="Text Placeholder 4">
            <a:extLst>
              <a:ext uri="{FF2B5EF4-FFF2-40B4-BE49-F238E27FC236}">
                <a16:creationId xmlns:a16="http://schemas.microsoft.com/office/drawing/2014/main" id="{E1E5AC67-9499-96E8-7D7B-F8DE2C7D73B7}"/>
              </a:ext>
            </a:extLst>
          </p:cNvPr>
          <p:cNvSpPr>
            <a:spLocks noGrp="1"/>
          </p:cNvSpPr>
          <p:nvPr>
            <p:ph type="body" sz="quarter" idx="14"/>
          </p:nvPr>
        </p:nvSpPr>
        <p:spPr/>
        <p:txBody>
          <a:bodyPr/>
          <a:lstStyle/>
          <a:p>
            <a:endParaRPr lang="sv-SE"/>
          </a:p>
        </p:txBody>
      </p:sp>
      <p:sp>
        <p:nvSpPr>
          <p:cNvPr id="7" name="Slide Number Placeholder 6">
            <a:extLst>
              <a:ext uri="{FF2B5EF4-FFF2-40B4-BE49-F238E27FC236}">
                <a16:creationId xmlns:a16="http://schemas.microsoft.com/office/drawing/2014/main" id="{D7CBCBE6-18EE-52A8-6870-C14F028EAEA0}"/>
              </a:ext>
            </a:extLst>
          </p:cNvPr>
          <p:cNvSpPr>
            <a:spLocks noGrp="1"/>
          </p:cNvSpPr>
          <p:nvPr>
            <p:ph type="sldNum" sz="quarter" idx="18"/>
          </p:nvPr>
        </p:nvSpPr>
        <p:spPr/>
        <p:txBody>
          <a:bodyPr/>
          <a:lstStyle/>
          <a:p>
            <a:r>
              <a:rPr lang="en-GB"/>
              <a:t>Page </a:t>
            </a:r>
            <a:fld id="{C2FE92B8-3297-49BF-866E-FDAA607BBC0B}" type="slidenum">
              <a:rPr lang="en-GB" smtClean="0"/>
              <a:pPr/>
              <a:t>3</a:t>
            </a:fld>
            <a:endParaRPr lang="en-GB" dirty="0"/>
          </a:p>
        </p:txBody>
      </p:sp>
      <p:sp>
        <p:nvSpPr>
          <p:cNvPr id="10" name="Content Placeholder 9">
            <a:extLst>
              <a:ext uri="{FF2B5EF4-FFF2-40B4-BE49-F238E27FC236}">
                <a16:creationId xmlns:a16="http://schemas.microsoft.com/office/drawing/2014/main" id="{933E445A-D31A-1571-845C-D524084264DE}"/>
              </a:ext>
            </a:extLst>
          </p:cNvPr>
          <p:cNvSpPr>
            <a:spLocks noGrp="1"/>
          </p:cNvSpPr>
          <p:nvPr>
            <p:ph sz="quarter" idx="19"/>
          </p:nvPr>
        </p:nvSpPr>
        <p:spPr/>
        <p:txBody>
          <a:bodyPr/>
          <a:lstStyle/>
          <a:p>
            <a:endParaRPr lang="sv-SE"/>
          </a:p>
        </p:txBody>
      </p:sp>
      <p:pic>
        <p:nvPicPr>
          <p:cNvPr id="11" name="Content Placeholder 8" descr="A blue symbol of a baby and lungs&#10;&#10;AI-generated content may be incorrect.">
            <a:extLst>
              <a:ext uri="{FF2B5EF4-FFF2-40B4-BE49-F238E27FC236}">
                <a16:creationId xmlns:a16="http://schemas.microsoft.com/office/drawing/2014/main" id="{82257D6D-1486-A3EC-957B-854A49F13CE8}"/>
              </a:ext>
            </a:extLst>
          </p:cNvPr>
          <p:cNvPicPr>
            <a:picLocks noChangeAspect="1"/>
          </p:cNvPicPr>
          <p:nvPr/>
        </p:nvPicPr>
        <p:blipFill>
          <a:blip r:embed="rId3">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extLst>
      <p:ext uri="{BB962C8B-B14F-4D97-AF65-F5344CB8AC3E}">
        <p14:creationId xmlns:p14="http://schemas.microsoft.com/office/powerpoint/2010/main" val="31471559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636E17-2894-4FD1-B668-562EC1D6424D}"/>
              </a:ext>
            </a:extLst>
          </p:cNvPr>
          <p:cNvSpPr>
            <a:spLocks noGrp="1"/>
          </p:cNvSpPr>
          <p:nvPr>
            <p:ph type="ftr" sz="quarter" idx="19"/>
          </p:nvPr>
        </p:nvSpPr>
        <p:spPr/>
        <p:txBody>
          <a:bodyPr/>
          <a:lstStyle/>
          <a:p>
            <a:r>
              <a:rPr lang="en-GB"/>
              <a:t>Presentation name</a:t>
            </a:r>
            <a:endParaRPr lang="en-GB" dirty="0"/>
          </a:p>
        </p:txBody>
      </p:sp>
      <p:sp>
        <p:nvSpPr>
          <p:cNvPr id="4" name="Slide Number Placeholder 3">
            <a:extLst>
              <a:ext uri="{FF2B5EF4-FFF2-40B4-BE49-F238E27FC236}">
                <a16:creationId xmlns:a16="http://schemas.microsoft.com/office/drawing/2014/main" id="{469C2B7D-BEC9-4E9C-B92D-18F787838AB5}"/>
              </a:ext>
            </a:extLst>
          </p:cNvPr>
          <p:cNvSpPr>
            <a:spLocks noGrp="1"/>
          </p:cNvSpPr>
          <p:nvPr>
            <p:ph type="sldNum" sz="quarter" idx="20"/>
          </p:nvPr>
        </p:nvSpPr>
        <p:spPr/>
        <p:txBody>
          <a:bodyPr/>
          <a:lstStyle/>
          <a:p>
            <a:r>
              <a:rPr lang="en-GB"/>
              <a:t>Page </a:t>
            </a:r>
            <a:fld id="{C2FE92B8-3297-49BF-866E-FDAA607BBC0B}" type="slidenum">
              <a:rPr lang="en-GB" smtClean="0"/>
              <a:pPr/>
              <a:t>4</a:t>
            </a:fld>
            <a:endParaRPr lang="en-GB" dirty="0"/>
          </a:p>
        </p:txBody>
      </p:sp>
    </p:spTree>
    <p:extLst>
      <p:ext uri="{BB962C8B-B14F-4D97-AF65-F5344CB8AC3E}">
        <p14:creationId xmlns:p14="http://schemas.microsoft.com/office/powerpoint/2010/main" val="2325919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t>Each controller operates independently</a:t>
            </a:r>
          </a:p>
          <a:p>
            <a:r>
              <a:t>Handles non-linearities in sensors and actuators</a:t>
            </a:r>
          </a:p>
          <a:p>
            <a:r>
              <a:t>Provides fast, stable control loops (100–1000 Hz)</a:t>
            </a:r>
          </a:p>
          <a:p>
            <a:r>
              <a:t>No knowledge of breathing phases or ventilation modes</a:t>
            </a:r>
          </a:p>
          <a:p>
            <a:endParaRPr/>
          </a:p>
          <a:p>
            <a:r>
              <a:rPr b="1"/>
              <a:t>Responsibilities</a:t>
            </a:r>
          </a:p>
          <a:p>
            <a:pPr lvl="1"/>
            <a:r>
              <a:t>Sensor scaling and compensation</a:t>
            </a:r>
          </a:p>
          <a:p>
            <a:pPr lvl="1"/>
            <a:r>
              <a:t>Actuator linearization</a:t>
            </a:r>
          </a:p>
          <a:p>
            <a:pPr lvl="1"/>
            <a:r>
              <a:t>Setpoint tracking with PID (or more advanced) control</a:t>
            </a:r>
          </a:p>
        </p:txBody>
      </p:sp>
      <p:sp>
        <p:nvSpPr>
          <p:cNvPr id="3" name="Title 2"/>
          <p:cNvSpPr>
            <a:spLocks noGrp="1"/>
          </p:cNvSpPr>
          <p:nvPr>
            <p:ph type="title"/>
          </p:nvPr>
        </p:nvSpPr>
        <p:spPr/>
        <p:txBody>
          <a:bodyPr/>
          <a:lstStyle/>
          <a:p>
            <a:r>
              <a:t>Layer 1 – Characteristics</a:t>
            </a:r>
          </a:p>
        </p:txBody>
      </p:sp>
      <p:sp>
        <p:nvSpPr>
          <p:cNvPr id="4" name="Text Placeholder 3"/>
          <p:cNvSpPr>
            <a:spLocks noGrp="1"/>
          </p:cNvSpPr>
          <p:nvPr>
            <p:ph type="body" sz="quarter" idx="14"/>
          </p:nvPr>
        </p:nvSpPr>
        <p:spPr/>
        <p:txBody>
          <a:bodyPr/>
          <a:lstStyle/>
          <a:p>
            <a:r>
              <a:t>Fast, independent control loops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2</a:t>
            </a:r>
          </a:p>
        </p:txBody>
      </p:sp>
      <p:sp>
        <p:nvSpPr>
          <p:cNvPr id="3" name="Text Placeholder 2"/>
          <p:cNvSpPr>
            <a:spLocks noGrp="1"/>
          </p:cNvSpPr>
          <p:nvPr>
            <p:ph type="body" idx="1"/>
          </p:nvPr>
        </p:nvSpPr>
        <p:spPr/>
        <p:txBody>
          <a:bodyPr/>
          <a:lstStyle/>
          <a:p>
            <a:r>
              <a:t>Low-Level Controller (LLC)</a:t>
            </a:r>
          </a:p>
          <a:p>
            <a:r>
              <a:t>Breathing Phase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 Breathing Phase States</a:t>
            </a:r>
          </a:p>
        </p:txBody>
      </p:sp>
      <p:sp>
        <p:nvSpPr>
          <p:cNvPr id="3" name="Text Placeholder 2"/>
          <p:cNvSpPr>
            <a:spLocks noGrp="1"/>
          </p:cNvSpPr>
          <p:nvPr>
            <p:ph type="body" sz="quarter" idx="14"/>
          </p:nvPr>
        </p:nvSpPr>
        <p:spPr/>
        <p:txBody>
          <a:bodyPr/>
          <a:lstStyle/>
          <a:p>
            <a:r>
              <a:t>Two alternating states controlled by setpoints and triggers</a:t>
            </a:r>
          </a:p>
        </p:txBody>
      </p:sp>
      <p:sp>
        <p:nvSpPr>
          <p:cNvPr id="4" name="Content Placeholder 3"/>
          <p:cNvSpPr>
            <a:spLocks noGrp="1"/>
          </p:cNvSpPr>
          <p:nvPr>
            <p:ph sz="quarter" idx="19"/>
          </p:nvPr>
        </p:nvSpPr>
        <p:spPr/>
        <p:txBody>
          <a:bodyPr/>
          <a:lstStyle/>
          <a:p>
            <a:r>
              <a:rPr b="1"/>
              <a:t>Insufflation (Inspiration)</a:t>
            </a:r>
          </a:p>
          <a:p>
            <a:pPr lvl="1"/>
            <a:r>
              <a:t>Delivers pressure/flow to patient</a:t>
            </a:r>
          </a:p>
          <a:p>
            <a:pPr lvl="1"/>
            <a:r>
              <a:t>Controls gas via O₂ and Air flow controllers</a:t>
            </a:r>
          </a:p>
          <a:p>
            <a:pPr lvl="1"/>
            <a:r>
              <a:t>Maintains target inspiratory pressure</a:t>
            </a:r>
          </a:p>
          <a:p>
            <a:pPr lvl="1"/>
            <a:r>
              <a:t>Pressure limiting: reduces flow when pressure approaches limit</a:t>
            </a:r>
          </a:p>
        </p:txBody>
      </p:sp>
      <p:sp>
        <p:nvSpPr>
          <p:cNvPr id="5" name="Content Placeholder 4"/>
          <p:cNvSpPr>
            <a:spLocks noGrp="1"/>
          </p:cNvSpPr>
          <p:nvPr>
            <p:ph sz="quarter" idx="20"/>
          </p:nvPr>
        </p:nvSpPr>
        <p:spPr/>
        <p:txBody>
          <a:bodyPr/>
          <a:lstStyle/>
          <a:p>
            <a:r>
              <a:rPr b="1"/>
              <a:t>Exsufflation (Expiration)</a:t>
            </a:r>
          </a:p>
          <a:p>
            <a:pPr lvl="1"/>
            <a:r>
              <a:t>Releases pressure/flow from patient</a:t>
            </a:r>
          </a:p>
          <a:p>
            <a:pPr lvl="1"/>
            <a:r>
              <a:t>Controls expiratory valve for pressure release</a:t>
            </a:r>
          </a:p>
          <a:p>
            <a:pPr lvl="1"/>
            <a:r>
              <a:t>Maintains PEEP (baseline pressure)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t>FiO₂ – Fraction of inspired oxygen (0.21 – 1.0)</a:t>
            </a:r>
          </a:p>
          <a:p>
            <a:r>
              <a:t>Insufflation Pressure – Target during insufflation</a:t>
            </a:r>
          </a:p>
          <a:p>
            <a:r>
              <a:t>Pressure Limit – Maximum allowed airway pressure</a:t>
            </a:r>
          </a:p>
          <a:p>
            <a:r>
              <a:t>Exsufflation Pressure (PEEP) – Target during exsufflation</a:t>
            </a:r>
          </a:p>
          <a:p>
            <a:r>
              <a:t>Insufflation Flow – Target flow rate during insufflation</a:t>
            </a:r>
          </a:p>
          <a:p>
            <a:r>
              <a:t>Bias Flow – Continuous flow during exsufflation</a:t>
            </a:r>
          </a:p>
          <a:p>
            <a:r>
              <a:t>Max Inspiratory Flow – Maximum allowed inspiratory flow</a:t>
            </a:r>
          </a:p>
          <a:p>
            <a:r>
              <a:t>Flow Trigger Threshold – Detects patient effort (flow)</a:t>
            </a:r>
          </a:p>
          <a:p>
            <a:r>
              <a:t>Pressure Trigger Threshold – Detects patient effort (pressure)</a:t>
            </a:r>
          </a:p>
        </p:txBody>
      </p:sp>
      <p:sp>
        <p:nvSpPr>
          <p:cNvPr id="3" name="Title 2"/>
          <p:cNvSpPr>
            <a:spLocks noGrp="1"/>
          </p:cNvSpPr>
          <p:nvPr>
            <p:ph type="title"/>
          </p:nvPr>
        </p:nvSpPr>
        <p:spPr/>
        <p:txBody>
          <a:bodyPr/>
          <a:lstStyle/>
          <a:p>
            <a:r>
              <a:t>LLC – Parameters (Set by HLC)</a:t>
            </a:r>
          </a:p>
        </p:txBody>
      </p:sp>
      <p:sp>
        <p:nvSpPr>
          <p:cNvPr id="4" name="Text Placeholder 3"/>
          <p:cNvSpPr>
            <a:spLocks noGrp="1"/>
          </p:cNvSpPr>
          <p:nvPr>
            <p:ph type="body" sz="quarter" idx="14"/>
          </p:nvPr>
        </p:nvSpPr>
        <p:spPr/>
        <p:txBody>
          <a:bodyPr/>
          <a:lstStyle/>
          <a:p>
            <a:r>
              <a:t>All parameters written by HLC – no explicit commands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 Transitions &amp; Communication</a:t>
            </a:r>
          </a:p>
        </p:txBody>
      </p:sp>
      <p:sp>
        <p:nvSpPr>
          <p:cNvPr id="3" name="Text Placeholder 2"/>
          <p:cNvSpPr>
            <a:spLocks noGrp="1"/>
          </p:cNvSpPr>
          <p:nvPr>
            <p:ph type="body" sz="quarter" idx="14"/>
          </p:nvPr>
        </p:nvSpPr>
        <p:spPr/>
        <p:txBody>
          <a:bodyPr/>
          <a:lstStyle/>
          <a:p>
            <a:r>
              <a:t>Purely reactive controller – no explicit commands from HLC</a:t>
            </a:r>
          </a:p>
        </p:txBody>
      </p:sp>
      <p:sp>
        <p:nvSpPr>
          <p:cNvPr id="4" name="Content Placeholder 3"/>
          <p:cNvSpPr>
            <a:spLocks noGrp="1"/>
          </p:cNvSpPr>
          <p:nvPr>
            <p:ph sz="quarter" idx="19"/>
          </p:nvPr>
        </p:nvSpPr>
        <p:spPr/>
        <p:txBody>
          <a:bodyPr/>
          <a:lstStyle/>
          <a:p>
            <a:r>
              <a:rPr b="1"/>
              <a:t>State Transitions</a:t>
            </a:r>
          </a:p>
          <a:p>
            <a:pPr lvl="1"/>
            <a:r>
              <a:rPr b="1"/>
              <a:t>Patient Effort Detection</a:t>
            </a:r>
          </a:p>
          <a:p>
            <a:pPr lvl="2"/>
            <a:r>
              <a:t>Monitors flow &amp; pressure vs trigger thresholds</a:t>
            </a:r>
          </a:p>
          <a:p>
            <a:pPr lvl="2"/>
            <a:r>
              <a:t>Inspiratory effort → triggers insufflation</a:t>
            </a:r>
          </a:p>
          <a:p>
            <a:pPr lvl="2"/>
            <a:r>
              <a:t>Expiratory effort → triggers exsufflation</a:t>
            </a:r>
          </a:p>
          <a:p>
            <a:pPr lvl="1"/>
            <a:r>
              <a:rPr b="1"/>
              <a:t>Setpoint-Induced Transitions</a:t>
            </a:r>
          </a:p>
          <a:p>
            <a:pPr lvl="2"/>
            <a:r>
              <a:t>HLC modifies setpoints → trigger criteria fulfilled</a:t>
            </a:r>
          </a:p>
          <a:p>
            <a:pPr lvl="2"/>
            <a:r>
              <a:t>Example: HLC sets PEEP=100 cmH₂O → LLC shifts to exsufflation</a:t>
            </a:r>
          </a:p>
        </p:txBody>
      </p:sp>
      <p:sp>
        <p:nvSpPr>
          <p:cNvPr id="5" name="Content Placeholder 4"/>
          <p:cNvSpPr>
            <a:spLocks noGrp="1"/>
          </p:cNvSpPr>
          <p:nvPr>
            <p:ph sz="quarter" idx="20"/>
          </p:nvPr>
        </p:nvSpPr>
        <p:spPr/>
        <p:txBody>
          <a:bodyPr/>
          <a:lstStyle/>
          <a:p>
            <a:r>
              <a:rPr b="1"/>
              <a:t>Signals to HLC</a:t>
            </a:r>
          </a:p>
          <a:p>
            <a:pPr lvl="1"/>
            <a:r>
              <a:t>State change events (insuff ↔ exsuff)</a:t>
            </a:r>
          </a:p>
          <a:p>
            <a:pPr lvl="1"/>
            <a:r>
              <a:t>Measured tidal volume (integrated flow)</a:t>
            </a:r>
          </a:p>
          <a:p>
            <a:pPr lvl="1"/>
            <a:r>
              <a:t>Pressure limit events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3</a:t>
            </a:r>
          </a:p>
        </p:txBody>
      </p:sp>
      <p:sp>
        <p:nvSpPr>
          <p:cNvPr id="3" name="Text Placeholder 2"/>
          <p:cNvSpPr>
            <a:spLocks noGrp="1"/>
          </p:cNvSpPr>
          <p:nvPr>
            <p:ph type="body" idx="1"/>
          </p:nvPr>
        </p:nvSpPr>
        <p:spPr/>
        <p:txBody>
          <a:bodyPr/>
          <a:lstStyle/>
          <a:p>
            <a:r>
              <a:t>High-Level Controller (HLC)</a:t>
            </a:r>
          </a:p>
          <a:p>
            <a:r>
              <a:t>Ventilation Mode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 8-State Sequential Machine</a:t>
            </a:r>
          </a:p>
        </p:txBody>
      </p:sp>
      <p:sp>
        <p:nvSpPr>
          <p:cNvPr id="3" name="Text Placeholder 2"/>
          <p:cNvSpPr>
            <a:spLocks noGrp="1"/>
          </p:cNvSpPr>
          <p:nvPr>
            <p:ph type="body" sz="quarter" idx="14"/>
          </p:nvPr>
        </p:nvSpPr>
        <p:spPr/>
        <p:txBody>
          <a:bodyPr/>
          <a:lstStyle/>
          <a:p>
            <a:r>
              <a:t>Two phases × four states per phase</a:t>
            </a:r>
          </a:p>
        </p:txBody>
      </p:sp>
      <p:sp>
        <p:nvSpPr>
          <p:cNvPr id="4" name="Content Placeholder 3"/>
          <p:cNvSpPr>
            <a:spLocks noGrp="1"/>
          </p:cNvSpPr>
          <p:nvPr>
            <p:ph sz="quarter" idx="18"/>
          </p:nvPr>
        </p:nvSpPr>
        <p:spPr/>
        <p:txBody>
          <a:bodyPr/>
          <a:lstStyle/>
          <a:p>
            <a:r>
              <a:rPr b="1"/>
              <a:t>Inspiration Sequence</a:t>
            </a:r>
          </a:p>
          <a:p>
            <a:pPr lvl="1"/>
            <a:r>
              <a:t>1. Non-triggerable – Fixed inspiration, triggers ignored</a:t>
            </a:r>
          </a:p>
          <a:p>
            <a:pPr lvl="1"/>
            <a:r>
              <a:t>2. Support – Patient can trigger pressure support</a:t>
            </a:r>
          </a:p>
          <a:p>
            <a:pPr lvl="1"/>
            <a:r>
              <a:t>3. Synch – Patient-synchronized transition (default: 0)</a:t>
            </a:r>
          </a:p>
          <a:p>
            <a:pPr lvl="1"/>
            <a:r>
              <a:t>4. Pause – Inspiratory hold for plateau measurement</a:t>
            </a:r>
          </a:p>
          <a:p>
            <a:endParaRPr/>
          </a:p>
          <a:p>
            <a:r>
              <a:rPr b="1"/>
              <a:t>Expiration Sequence</a:t>
            </a:r>
          </a:p>
          <a:p>
            <a:pPr lvl="1"/>
            <a:r>
              <a:t>5. Non-triggerable – Fixed expiration, triggers ignored</a:t>
            </a:r>
          </a:p>
          <a:p>
            <a:pPr lvl="1"/>
            <a:r>
              <a:t>6. Support – Patient can trigger expiratory support (rare)</a:t>
            </a:r>
          </a:p>
          <a:p>
            <a:pPr lvl="1"/>
            <a:r>
              <a:t>7. Synch – Patient-synchronized transition (default: 0)</a:t>
            </a:r>
          </a:p>
          <a:p>
            <a:pPr lvl="1"/>
            <a:r>
              <a:t>8. Pause – Expiratory hold for measurements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1. Non-triggerable</a:t>
            </a:r>
          </a:p>
          <a:p>
            <a:pPr lvl="1"/>
            <a:r>
              <a:t>Delivers mandatory breath</a:t>
            </a:r>
          </a:p>
          <a:p>
            <a:pPr lvl="1"/>
            <a:r>
              <a:t>Patient triggers are ignored</a:t>
            </a:r>
          </a:p>
          <a:p>
            <a:pPr lvl="1"/>
            <a:r>
              <a:t>Duration set by timing parameters</a:t>
            </a:r>
          </a:p>
          <a:p>
            <a:r>
              <a:rPr b="1"/>
              <a:t>2. Support</a:t>
            </a:r>
          </a:p>
          <a:p>
            <a:pPr lvl="1"/>
            <a:r>
              <a:t>Patient can trigger additional inspiratory support pressure</a:t>
            </a:r>
          </a:p>
          <a:p>
            <a:pPr lvl="1"/>
            <a:r>
              <a:t>Allows patient to augment mechanical breath</a:t>
            </a:r>
          </a:p>
          <a:p>
            <a:r>
              <a:rPr b="1"/>
              <a:t>3. Synch (Synchronization)</a:t>
            </a:r>
          </a:p>
          <a:p>
            <a:pPr lvl="1"/>
            <a:r>
              <a:t>LLC exsufflation signal → HLC advances to Pause</a:t>
            </a:r>
          </a:p>
          <a:p>
            <a:pPr lvl="1"/>
            <a:r>
              <a:t>Allows patient to terminate inspiration</a:t>
            </a:r>
          </a:p>
          <a:p>
            <a:r>
              <a:rPr b="1"/>
              <a:t>4. Pause (Inspiratory Plateau)</a:t>
            </a:r>
          </a:p>
          <a:p>
            <a:pPr lvl="1"/>
            <a:r>
              <a:t>Holds delivered volume – no gas added or released</a:t>
            </a:r>
          </a:p>
          <a:p>
            <a:pPr lvl="1"/>
            <a:r>
              <a:t>Used for plateau pressure measurement</a:t>
            </a:r>
          </a:p>
        </p:txBody>
      </p:sp>
      <p:sp>
        <p:nvSpPr>
          <p:cNvPr id="3" name="Title 2"/>
          <p:cNvSpPr>
            <a:spLocks noGrp="1"/>
          </p:cNvSpPr>
          <p:nvPr>
            <p:ph type="title"/>
          </p:nvPr>
        </p:nvSpPr>
        <p:spPr/>
        <p:txBody>
          <a:bodyPr/>
          <a:lstStyle/>
          <a:p>
            <a:r>
              <a:t>HLC – Inspiration States</a:t>
            </a:r>
          </a:p>
        </p:txBody>
      </p:sp>
      <p:sp>
        <p:nvSpPr>
          <p:cNvPr id="4" name="Text Placeholder 3"/>
          <p:cNvSpPr>
            <a:spLocks noGrp="1"/>
          </p:cNvSpPr>
          <p:nvPr>
            <p:ph type="body" sz="quarter" idx="14"/>
          </p:nvPr>
        </p:nvSpPr>
        <p:spPr/>
        <p:txBody>
          <a:bodyPr/>
          <a:lstStyle/>
          <a:p>
            <a:r>
              <a:t>States 1–4 of the ventilation cycle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5. Non-triggerable</a:t>
            </a:r>
          </a:p>
          <a:p>
            <a:pPr lvl="1"/>
            <a:r>
              <a:t>Ensures minimum expiration time</a:t>
            </a:r>
          </a:p>
          <a:p>
            <a:pPr lvl="1"/>
            <a:r>
              <a:t>Patient triggers are ignored</a:t>
            </a:r>
          </a:p>
          <a:p>
            <a:r>
              <a:rPr b="1"/>
              <a:t>6. Support</a:t>
            </a:r>
          </a:p>
          <a:p>
            <a:pPr lvl="1"/>
            <a:r>
              <a:t>Patient can trigger expiratory support pressure</a:t>
            </a:r>
          </a:p>
          <a:p>
            <a:pPr lvl="1"/>
            <a:r>
              <a:t>Rare in typical ventilation modes</a:t>
            </a:r>
          </a:p>
          <a:p>
            <a:r>
              <a:rPr b="1"/>
              <a:t>7. Synch (Synchronization)</a:t>
            </a:r>
          </a:p>
          <a:p>
            <a:pPr lvl="1"/>
            <a:r>
              <a:t>LLC insufflation signal → HLC advances to Pause</a:t>
            </a:r>
          </a:p>
          <a:p>
            <a:pPr lvl="1"/>
            <a:r>
              <a:t>Allows patient to initiate next breath</a:t>
            </a:r>
          </a:p>
          <a:p>
            <a:r>
              <a:rPr b="1"/>
              <a:t>8. Pause (Expiratory)</a:t>
            </a:r>
          </a:p>
          <a:p>
            <a:pPr lvl="1"/>
            <a:r>
              <a:t>Maintains expiratory state</a:t>
            </a:r>
          </a:p>
          <a:p>
            <a:pPr lvl="1"/>
            <a:r>
              <a:t>Used for breath holds or measurements</a:t>
            </a:r>
          </a:p>
        </p:txBody>
      </p:sp>
      <p:sp>
        <p:nvSpPr>
          <p:cNvPr id="3" name="Title 2"/>
          <p:cNvSpPr>
            <a:spLocks noGrp="1"/>
          </p:cNvSpPr>
          <p:nvPr>
            <p:ph type="title"/>
          </p:nvPr>
        </p:nvSpPr>
        <p:spPr/>
        <p:txBody>
          <a:bodyPr/>
          <a:lstStyle/>
          <a:p>
            <a:r>
              <a:t>HLC – Expiration States</a:t>
            </a:r>
          </a:p>
        </p:txBody>
      </p:sp>
      <p:sp>
        <p:nvSpPr>
          <p:cNvPr id="4" name="Text Placeholder 3"/>
          <p:cNvSpPr>
            <a:spLocks noGrp="1"/>
          </p:cNvSpPr>
          <p:nvPr>
            <p:ph type="body" sz="quarter" idx="14"/>
          </p:nvPr>
        </p:nvSpPr>
        <p:spPr/>
        <p:txBody>
          <a:bodyPr/>
          <a:lstStyle/>
          <a:p>
            <a:r>
              <a:t>States 5–8 of the ventilation cycle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States advance based on:</a:t>
            </a:r>
          </a:p>
          <a:p>
            <a:pPr lvl="1"/>
            <a:r>
              <a:t>Time elapsed – each state has a pre-calculated absolute duration</a:t>
            </a:r>
          </a:p>
          <a:p>
            <a:pPr lvl="1"/>
            <a:r>
              <a:t>Zero-duration skipping – states with time = 0 are immediately skipped</a:t>
            </a:r>
          </a:p>
          <a:p>
            <a:pPr lvl="1"/>
            <a:r>
              <a:t>Patient synchronization – during Synch states, LLC signals trigger advance</a:t>
            </a:r>
          </a:p>
          <a:p>
            <a:pPr lvl="2"/>
            <a:r>
              <a:t>Insp Synch: LLC exsufflation signal → advance to Insp Pause</a:t>
            </a:r>
          </a:p>
          <a:p>
            <a:pPr lvl="2"/>
            <a:r>
              <a:t>Exp Synch: LLC insufflation signal → advance to Exp Pause</a:t>
            </a:r>
          </a:p>
          <a:p>
            <a:endParaRPr/>
          </a:p>
          <a:p>
            <a:r>
              <a:rPr b="1"/>
              <a:t>Key design principle</a:t>
            </a:r>
          </a:p>
          <a:p>
            <a:pPr lvl="1"/>
            <a:r>
              <a:t>The HLC operates exclusively on absolute times (ms/s)</a:t>
            </a:r>
          </a:p>
          <a:p>
            <a:pPr lvl="1"/>
            <a:r>
              <a:t>It does NOT interpret RR, I:E ratio, pause %, or any user parameters</a:t>
            </a:r>
          </a:p>
          <a:p>
            <a:pPr lvl="1"/>
            <a:r>
              <a:t>All parameter-to-time conversion is done by the UI Layer above</a:t>
            </a:r>
          </a:p>
        </p:txBody>
      </p:sp>
      <p:sp>
        <p:nvSpPr>
          <p:cNvPr id="3" name="Title 2"/>
          <p:cNvSpPr>
            <a:spLocks noGrp="1"/>
          </p:cNvSpPr>
          <p:nvPr>
            <p:ph type="title"/>
          </p:nvPr>
        </p:nvSpPr>
        <p:spPr/>
        <p:txBody>
          <a:bodyPr/>
          <a:lstStyle/>
          <a:p>
            <a:r>
              <a:t>HLC – State Transition Logic</a:t>
            </a:r>
          </a:p>
        </p:txBody>
      </p:sp>
      <p:sp>
        <p:nvSpPr>
          <p:cNvPr id="4" name="Text Placeholder 3"/>
          <p:cNvSpPr>
            <a:spLocks noGrp="1"/>
          </p:cNvSpPr>
          <p:nvPr>
            <p:ph type="body" sz="quarter" idx="14"/>
          </p:nvPr>
        </p:nvSpPr>
        <p:spPr/>
        <p:txBody>
          <a:bodyPr/>
          <a:lstStyle/>
          <a:p>
            <a:r>
              <a:t>Simple, deterministic transitions – no parameter interpretation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 Timing Interface</a:t>
            </a:r>
          </a:p>
        </p:txBody>
      </p:sp>
      <p:sp>
        <p:nvSpPr>
          <p:cNvPr id="3" name="Text Placeholder 2"/>
          <p:cNvSpPr>
            <a:spLocks noGrp="1"/>
          </p:cNvSpPr>
          <p:nvPr>
            <p:ph type="body" sz="quarter" idx="14"/>
          </p:nvPr>
        </p:nvSpPr>
        <p:spPr/>
        <p:txBody>
          <a:bodyPr/>
          <a:lstStyle/>
          <a:p>
            <a:r>
              <a:t>Eight absolute durations – the only timing inputs to the HLC</a:t>
            </a:r>
          </a:p>
        </p:txBody>
      </p:sp>
      <p:sp>
        <p:nvSpPr>
          <p:cNvPr id="4" name="Content Placeholder 3"/>
          <p:cNvSpPr>
            <a:spLocks noGrp="1"/>
          </p:cNvSpPr>
          <p:nvPr>
            <p:ph sz="quarter" idx="18"/>
          </p:nvPr>
        </p:nvSpPr>
        <p:spPr/>
        <p:txBody>
          <a:bodyPr/>
          <a:lstStyle/>
          <a:p>
            <a:r>
              <a:rPr b="1"/>
              <a:t>Inspiration phase</a:t>
            </a:r>
          </a:p>
          <a:p>
            <a:pPr lvl="1"/>
            <a:r>
              <a:t>Time_Insp_NonTrig – Mandatory inspiration duration</a:t>
            </a:r>
          </a:p>
          <a:p>
            <a:pPr lvl="1"/>
            <a:r>
              <a:t>Time_Insp_Support – Inspiration support window</a:t>
            </a:r>
          </a:p>
          <a:p>
            <a:pPr lvl="1"/>
            <a:r>
              <a:t>Time_Insp_Synch – Max wait for patient-synchronized termination</a:t>
            </a:r>
          </a:p>
          <a:p>
            <a:pPr lvl="1"/>
            <a:r>
              <a:t>Time_Insp_Pause – Inspiratory pause / plateau hold</a:t>
            </a:r>
          </a:p>
          <a:p>
            <a:endParaRPr/>
          </a:p>
          <a:p>
            <a:r>
              <a:rPr b="1"/>
              <a:t>Expiration phase</a:t>
            </a:r>
          </a:p>
          <a:p>
            <a:pPr lvl="1"/>
            <a:r>
              <a:t>Time_Exp_NonTrig – Mandatory expiration duration</a:t>
            </a:r>
          </a:p>
          <a:p>
            <a:pPr lvl="1"/>
            <a:r>
              <a:t>Time_Exp_Support – Expiration support window</a:t>
            </a:r>
          </a:p>
          <a:p>
            <a:pPr lvl="1"/>
            <a:r>
              <a:t>Time_Exp_Synch – Max wait for patient-synchronized termination</a:t>
            </a:r>
          </a:p>
          <a:p>
            <a:pPr lvl="1"/>
            <a:r>
              <a:t>Time_Exp_Pause – Expiratory pause / hold</a:t>
            </a:r>
          </a:p>
          <a:p>
            <a:endParaRPr/>
          </a:p>
          <a:p>
            <a:r>
              <a:rPr b="1"/>
              <a:t>Sum of all 8 durations = one complete breathing cycle</a:t>
            </a:r>
          </a:p>
          <a:p>
            <a:pPr lvl="1"/>
            <a:r>
              <a:t>Active Insp. Time = NonTrig + Support + Synch (pause excluded for Vt calc)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User Interface Layer</a:t>
            </a:r>
          </a:p>
        </p:txBody>
      </p:sp>
      <p:sp>
        <p:nvSpPr>
          <p:cNvPr id="3" name="Text Placeholder 2"/>
          <p:cNvSpPr>
            <a:spLocks noGrp="1"/>
          </p:cNvSpPr>
          <p:nvPr>
            <p:ph type="body" sz="quarter" idx="14"/>
          </p:nvPr>
        </p:nvSpPr>
        <p:spPr/>
        <p:txBody>
          <a:bodyPr/>
          <a:lstStyle/>
          <a:p>
            <a:r>
              <a:t>Translates clinician parameters into HLC absolute times</a:t>
            </a:r>
          </a:p>
        </p:txBody>
      </p:sp>
      <p:sp>
        <p:nvSpPr>
          <p:cNvPr id="4" name="Content Placeholder 3"/>
          <p:cNvSpPr>
            <a:spLocks noGrp="1"/>
          </p:cNvSpPr>
          <p:nvPr>
            <p:ph sz="quarter" idx="19"/>
          </p:nvPr>
        </p:nvSpPr>
        <p:spPr/>
        <p:txBody>
          <a:bodyPr/>
          <a:lstStyle/>
          <a:p>
            <a:r>
              <a:rPr b="1"/>
              <a:t>UI Layer accepts user parameters</a:t>
            </a:r>
          </a:p>
          <a:p>
            <a:pPr lvl="1"/>
            <a:r>
              <a:t>Respiratory Rate (RR)</a:t>
            </a:r>
          </a:p>
          <a:p>
            <a:pPr lvl="1"/>
            <a:r>
              <a:t>I:E Ratio</a:t>
            </a:r>
          </a:p>
          <a:p>
            <a:pPr lvl="1"/>
            <a:r>
              <a:t>Inspiratory Pause %</a:t>
            </a:r>
          </a:p>
          <a:p>
            <a:pPr lvl="1"/>
            <a:r>
              <a:t>Expiratory Pause %</a:t>
            </a:r>
          </a:p>
          <a:p>
            <a:pPr lvl="1"/>
            <a:r>
              <a:t>Non-triggerable / Support / Synch fractions</a:t>
            </a:r>
          </a:p>
          <a:p>
            <a:pPr lvl="1"/>
            <a:r>
              <a:t>Tidal Volume, FiO₂, pressures, etc.</a:t>
            </a:r>
          </a:p>
        </p:txBody>
      </p:sp>
      <p:sp>
        <p:nvSpPr>
          <p:cNvPr id="5" name="Content Placeholder 4"/>
          <p:cNvSpPr>
            <a:spLocks noGrp="1"/>
          </p:cNvSpPr>
          <p:nvPr>
            <p:ph sz="quarter" idx="20"/>
          </p:nvPr>
        </p:nvSpPr>
        <p:spPr/>
        <p:txBody>
          <a:bodyPr/>
          <a:lstStyle/>
          <a:p>
            <a:r>
              <a:rPr b="1"/>
              <a:t>UI Layer solves the equations</a:t>
            </a:r>
          </a:p>
          <a:p>
            <a:pPr lvl="1"/>
            <a:r>
              <a:t>Cycle Time = 60 / RR</a:t>
            </a:r>
          </a:p>
          <a:p>
            <a:pPr lvl="1"/>
            <a:r>
              <a:t>Insp Time = Cycle × I/(I+E)</a:t>
            </a:r>
          </a:p>
          <a:p>
            <a:pPr lvl="1"/>
            <a:r>
              <a:t>Exp Time = Cycle × E/(I+E)</a:t>
            </a:r>
          </a:p>
          <a:p>
            <a:pPr lvl="1"/>
            <a:r>
              <a:t>Distributes durations across 8 states</a:t>
            </a:r>
          </a:p>
          <a:p>
            <a:pPr lvl="1"/>
            <a:r>
              <a:t>Writes absolute times + setpoints to HLC</a:t>
            </a:r>
          </a:p>
          <a:p>
            <a:endParaRPr/>
          </a:p>
          <a:p>
            <a:r>
              <a:rPr b="1"/>
              <a:t>Benefit: different UIs (touchscreen, remote,</a:t>
            </a:r>
          </a:p>
          <a:p>
            <a:r>
              <a:t>automated protocols) share the same</a:t>
            </a:r>
          </a:p>
          <a:p>
            <a:r>
              <a:t>deterministic HLC interface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Tidal Volume Control</a:t>
            </a:r>
          </a:p>
        </p:txBody>
      </p:sp>
      <p:sp>
        <p:nvSpPr>
          <p:cNvPr id="3" name="Text Placeholder 2"/>
          <p:cNvSpPr>
            <a:spLocks noGrp="1"/>
          </p:cNvSpPr>
          <p:nvPr>
            <p:ph type="body" sz="quarter" idx="14"/>
          </p:nvPr>
        </p:nvSpPr>
        <p:spPr/>
        <p:txBody>
          <a:bodyPr/>
          <a:lstStyle/>
          <a:p>
            <a:r>
              <a:t>Breath-to-breath adaptive control with pressure safety</a:t>
            </a:r>
          </a:p>
        </p:txBody>
      </p:sp>
      <p:sp>
        <p:nvSpPr>
          <p:cNvPr id="4" name="Content Placeholder 3"/>
          <p:cNvSpPr>
            <a:spLocks noGrp="1"/>
          </p:cNvSpPr>
          <p:nvPr>
            <p:ph sz="quarter" idx="18"/>
          </p:nvPr>
        </p:nvSpPr>
        <p:spPr/>
        <p:txBody>
          <a:bodyPr/>
          <a:lstStyle/>
          <a:p>
            <a:r>
              <a:rPr b="1"/>
              <a:t>Initial Flow Calculation</a:t>
            </a:r>
          </a:p>
          <a:p>
            <a:pPr lvl="1"/>
            <a:r>
              <a:t>Insufflation Flow = Vt / Active Inspiration Time</a:t>
            </a:r>
          </a:p>
          <a:p>
            <a:pPr lvl="1"/>
            <a:r>
              <a:t>Active Insp. Time = Time(Non-trig) + Time(Support) + Time(Synch)</a:t>
            </a:r>
          </a:p>
          <a:p>
            <a:endParaRPr/>
          </a:p>
          <a:p>
            <a:r>
              <a:rPr b="1"/>
              <a:t>Breath-to-Breath Adaptation</a:t>
            </a:r>
          </a:p>
          <a:p>
            <a:pPr lvl="1"/>
            <a:r>
              <a:t>At each inspi→expi transition:</a:t>
            </a:r>
          </a:p>
          <a:p>
            <a:pPr lvl="2"/>
            <a:r>
              <a:t>Measure actual Vt_measured</a:t>
            </a:r>
          </a:p>
          <a:p>
            <a:pPr lvl="2"/>
            <a:r>
              <a:t>Calculate ΔVt = Vt_target − Vt_measured</a:t>
            </a:r>
          </a:p>
          <a:p>
            <a:pPr lvl="2"/>
            <a:r>
              <a:t>Gradually adjust insufflation flow setpoint</a:t>
            </a:r>
          </a:p>
          <a:p>
            <a:pPr lvl="2"/>
            <a:r>
              <a:t>Prevents oscillations, compensates for compliance changes</a:t>
            </a:r>
          </a:p>
          <a:p>
            <a:endParaRPr/>
          </a:p>
          <a:p>
            <a:r>
              <a:rPr b="1"/>
              <a:t>Pressure-Limited Volume Control</a:t>
            </a:r>
          </a:p>
          <a:p>
            <a:pPr lvl="1"/>
            <a:r>
              <a:t>LLC pressure controllers auto-reduce flow near Pressure Limit</a:t>
            </a:r>
          </a:p>
          <a:p>
            <a:pPr lvl="1"/>
            <a:r>
              <a:t>Vt_measured &lt; Vt_target → volume sacrificed for safety</a:t>
            </a:r>
          </a:p>
          <a:p>
            <a:pPr lvl="1"/>
            <a:r>
              <a:t>Two modes: Volume-controlled  /  Pressure-limited volume-controlled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Inspiration Support State</a:t>
            </a:r>
          </a:p>
          <a:p>
            <a:pPr lvl="1"/>
            <a:r>
              <a:t>When patient trigger detected during Insp Support state:</a:t>
            </a:r>
          </a:p>
          <a:p>
            <a:pPr lvl="1"/>
            <a:r>
              <a:t>LLC Insuff Pressure = Inspiratory Pressure + Insp Support Pressure</a:t>
            </a:r>
          </a:p>
          <a:p>
            <a:pPr lvl="1"/>
            <a:r>
              <a:t>Provides additional pressure boost rewarding inspiratory effort</a:t>
            </a:r>
          </a:p>
          <a:p>
            <a:pPr lvl="1"/>
            <a:r>
              <a:t>Common in PSV (Pressure Support Ventilation) modes</a:t>
            </a:r>
          </a:p>
          <a:p>
            <a:endParaRPr/>
          </a:p>
          <a:p>
            <a:r>
              <a:rPr b="1"/>
              <a:t>Expiration Support State</a:t>
            </a:r>
          </a:p>
          <a:p>
            <a:pPr lvl="1"/>
            <a:r>
              <a:t>When patient trigger detected during Exp Support state:</a:t>
            </a:r>
          </a:p>
          <a:p>
            <a:pPr lvl="1"/>
            <a:r>
              <a:t>LLC Insuff Pressure = PEEP + Exp Support Pressure</a:t>
            </a:r>
          </a:p>
          <a:p>
            <a:pPr lvl="1"/>
            <a:r>
              <a:t>Less common – available for specific clinical scenarios</a:t>
            </a:r>
          </a:p>
        </p:txBody>
      </p:sp>
      <p:sp>
        <p:nvSpPr>
          <p:cNvPr id="3" name="Title 2"/>
          <p:cNvSpPr>
            <a:spLocks noGrp="1"/>
          </p:cNvSpPr>
          <p:nvPr>
            <p:ph type="title"/>
          </p:nvPr>
        </p:nvSpPr>
        <p:spPr/>
        <p:txBody>
          <a:bodyPr/>
          <a:lstStyle/>
          <a:p>
            <a:r>
              <a:t>Pressure Support Mechanism</a:t>
            </a:r>
          </a:p>
        </p:txBody>
      </p:sp>
      <p:sp>
        <p:nvSpPr>
          <p:cNvPr id="4" name="Text Placeholder 3"/>
          <p:cNvSpPr>
            <a:spLocks noGrp="1"/>
          </p:cNvSpPr>
          <p:nvPr>
            <p:ph type="body" sz="quarter" idx="14"/>
          </p:nvPr>
        </p:nvSpPr>
        <p:spPr/>
        <p:txBody>
          <a:bodyPr/>
          <a:lstStyle/>
          <a:p>
            <a:r>
              <a:t>Rewarding patient effort through pressure boosts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Inspiratory Pause Implementation</a:t>
            </a:r>
          </a:p>
        </p:txBody>
      </p:sp>
      <p:sp>
        <p:nvSpPr>
          <p:cNvPr id="3" name="Text Placeholder 2"/>
          <p:cNvSpPr>
            <a:spLocks noGrp="1"/>
          </p:cNvSpPr>
          <p:nvPr>
            <p:ph type="body" sz="quarter" idx="14"/>
          </p:nvPr>
        </p:nvSpPr>
        <p:spPr/>
        <p:txBody>
          <a:bodyPr/>
          <a:lstStyle/>
          <a:p>
            <a:r>
              <a:t>Elegant setpoint manipulation – no special pause logic in LLC</a:t>
            </a:r>
          </a:p>
        </p:txBody>
      </p:sp>
      <p:sp>
        <p:nvSpPr>
          <p:cNvPr id="4" name="Content Placeholder 3"/>
          <p:cNvSpPr>
            <a:spLocks noGrp="1"/>
          </p:cNvSpPr>
          <p:nvPr>
            <p:ph sz="quarter" idx="18"/>
          </p:nvPr>
        </p:nvSpPr>
        <p:spPr/>
        <p:txBody>
          <a:bodyPr/>
          <a:lstStyle/>
          <a:p>
            <a:r>
              <a:rPr b="1"/>
              <a:t>Purpose</a:t>
            </a:r>
          </a:p>
          <a:p>
            <a:pPr lvl="1"/>
            <a:r>
              <a:t>Hold delivered volume for plateau pressure measurement</a:t>
            </a:r>
          </a:p>
          <a:p>
            <a:pPr lvl="1"/>
            <a:r>
              <a:t>Assess static lung compliance</a:t>
            </a:r>
          </a:p>
          <a:p>
            <a:pPr lvl="1"/>
            <a:r>
              <a:t>Equilibrate airway and alveolar pressures</a:t>
            </a:r>
          </a:p>
          <a:p>
            <a:endParaRPr/>
          </a:p>
          <a:p>
            <a:r>
              <a:rPr b="1"/>
              <a:t>Mechanism (setpoint manipulation)</a:t>
            </a:r>
          </a:p>
          <a:p>
            <a:pPr lvl="1"/>
            <a:r>
              <a:t>Bias Flow → 0  (no gas added by insufflation controllers)</a:t>
            </a:r>
          </a:p>
          <a:p>
            <a:pPr lvl="1"/>
            <a:r>
              <a:t>PEEP setpoint → 100 cmH₂O  (forces LLC into exsufflation mode)</a:t>
            </a:r>
          </a:p>
          <a:p>
            <a:pPr lvl="1"/>
            <a:r>
              <a:t>Actual pressure ≪ 100 → expiratory valve stays closed</a:t>
            </a:r>
          </a:p>
          <a:p>
            <a:pPr lvl="1"/>
            <a:r>
              <a:t>Result: system is mechanically "locked"</a:t>
            </a:r>
          </a:p>
          <a:p>
            <a:pPr lvl="2"/>
            <a:r>
              <a:t>No gas flows in, no gas escapes</a:t>
            </a:r>
          </a:p>
          <a:p>
            <a:pPr lvl="2"/>
            <a:r>
              <a:t>Volume held constant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HLC controls LLC by:</a:t>
            </a:r>
          </a:p>
          <a:p>
            <a:pPr lvl="1"/>
            <a:r>
              <a:t>Setting insufflation pressure based on state &amp; triggers</a:t>
            </a:r>
          </a:p>
          <a:p>
            <a:pPr lvl="1"/>
            <a:r>
              <a:t>Setting pressure limit for safety</a:t>
            </a:r>
          </a:p>
          <a:p>
            <a:pPr lvl="1"/>
            <a:r>
              <a:t>Setting insufflation flow (Vt, timing, adaptation)</a:t>
            </a:r>
          </a:p>
          <a:p>
            <a:pPr lvl="1"/>
            <a:r>
              <a:t>Adjusting bias flow &amp; PEEP for pause phases</a:t>
            </a:r>
          </a:p>
          <a:p>
            <a:pPr lvl="1"/>
            <a:r>
              <a:t>Adjusting trigger thresholds per HLC state</a:t>
            </a:r>
          </a:p>
          <a:p>
            <a:endParaRPr/>
          </a:p>
          <a:p>
            <a:r>
              <a:rPr b="1"/>
              <a:t>State-Dependent Setpoints (key states)</a:t>
            </a:r>
          </a:p>
          <a:p>
            <a:pPr lvl="1"/>
            <a:r>
              <a:t>Insp Non-trig: Insp Pressure | Normal PEEP | Normal Bias</a:t>
            </a:r>
          </a:p>
          <a:p>
            <a:pPr lvl="1"/>
            <a:r>
              <a:t>Insp Support (triggered): Insp Press + Support | Normal PEEP</a:t>
            </a:r>
          </a:p>
          <a:p>
            <a:pPr lvl="1"/>
            <a:r>
              <a:t>Insp Pause: N/A | PEEP=100 cmH₂O | Bias=0</a:t>
            </a:r>
          </a:p>
          <a:p>
            <a:pPr lvl="1"/>
            <a:r>
              <a:t>Exp states: N/A or PEEP+Support | Normal PEEP | Normal Bias</a:t>
            </a:r>
          </a:p>
        </p:txBody>
      </p:sp>
      <p:sp>
        <p:nvSpPr>
          <p:cNvPr id="3" name="Title 2"/>
          <p:cNvSpPr>
            <a:spLocks noGrp="1"/>
          </p:cNvSpPr>
          <p:nvPr>
            <p:ph type="title"/>
          </p:nvPr>
        </p:nvSpPr>
        <p:spPr/>
        <p:txBody>
          <a:bodyPr/>
          <a:lstStyle/>
          <a:p>
            <a:r>
              <a:t>HLC – Indirect Control Philosophy</a:t>
            </a:r>
          </a:p>
        </p:txBody>
      </p:sp>
      <p:sp>
        <p:nvSpPr>
          <p:cNvPr id="4" name="Text Placeholder 3"/>
          <p:cNvSpPr>
            <a:spLocks noGrp="1"/>
          </p:cNvSpPr>
          <p:nvPr>
            <p:ph type="body" sz="quarter" idx="14"/>
          </p:nvPr>
        </p:nvSpPr>
        <p:spPr/>
        <p:txBody>
          <a:bodyPr/>
          <a:lstStyle/>
          <a:p>
            <a:r>
              <a:t>No explicit commands – only setpoint manipulation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Communication Between Layers</a:t>
            </a:r>
          </a:p>
        </p:txBody>
      </p:sp>
      <p:sp>
        <p:nvSpPr>
          <p:cNvPr id="3" name="Text Placeholder 2"/>
          <p:cNvSpPr>
            <a:spLocks noGrp="1"/>
          </p:cNvSpPr>
          <p:nvPr>
            <p:ph type="body" sz="quarter" idx="14"/>
          </p:nvPr>
        </p:nvSpPr>
        <p:spPr/>
        <p:txBody>
          <a:bodyPr/>
          <a:lstStyle/>
          <a:p>
            <a:r>
              <a:t>Clean interfaces with minimal coupling</a:t>
            </a:r>
          </a:p>
        </p:txBody>
      </p:sp>
      <p:sp>
        <p:nvSpPr>
          <p:cNvPr id="4" name="Content Placeholder 3"/>
          <p:cNvSpPr>
            <a:spLocks noGrp="1"/>
          </p:cNvSpPr>
          <p:nvPr>
            <p:ph sz="quarter" idx="18"/>
          </p:nvPr>
        </p:nvSpPr>
        <p:spPr/>
        <p:txBody>
          <a:bodyPr/>
          <a:lstStyle/>
          <a:p>
            <a:r>
              <a:rPr b="1"/>
              <a:t>HLC → LLC  (Setpoints)</a:t>
            </a:r>
          </a:p>
          <a:p>
            <a:pPr lvl="1"/>
            <a:r>
              <a:t>Pressure setpoints (insp, PEEP, limit)</a:t>
            </a:r>
          </a:p>
          <a:p>
            <a:pPr lvl="1"/>
            <a:r>
              <a:t>Flow setpoints (insufflation, bias, max insp)</a:t>
            </a:r>
          </a:p>
          <a:p>
            <a:pPr lvl="1"/>
            <a:r>
              <a:t>Trigger thresholds (flow &amp; pressure)</a:t>
            </a:r>
          </a:p>
          <a:p>
            <a:endParaRPr/>
          </a:p>
          <a:p>
            <a:r>
              <a:rPr b="1"/>
              <a:t>LLC → HLC  (Signals)</a:t>
            </a:r>
          </a:p>
          <a:p>
            <a:pPr lvl="1"/>
            <a:r>
              <a:t>State change events (insufflation ↔ exsufflation)</a:t>
            </a:r>
          </a:p>
          <a:p>
            <a:pPr lvl="1"/>
            <a:r>
              <a:t>Measured tidal volume (integrated flow)</a:t>
            </a:r>
          </a:p>
          <a:p>
            <a:pPr lvl="1"/>
            <a:r>
              <a:t>Pressure limit events</a:t>
            </a:r>
          </a:p>
          <a:p>
            <a:endParaRPr/>
          </a:p>
          <a:p>
            <a:r>
              <a:rPr b="1"/>
              <a:t>LLC → Layer 1  (Setpoints)</a:t>
            </a:r>
          </a:p>
          <a:p>
            <a:pPr lvl="1"/>
            <a:r>
              <a:t>Individual flow controller setpoints</a:t>
            </a:r>
          </a:p>
          <a:p>
            <a:pPr lvl="1"/>
            <a:r>
              <a:t>Expiratory valve pressure setpoint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Ventilation Modes</a:t>
            </a:r>
          </a:p>
        </p:txBody>
      </p:sp>
      <p:sp>
        <p:nvSpPr>
          <p:cNvPr id="3" name="Text Placeholder 2"/>
          <p:cNvSpPr>
            <a:spLocks noGrp="1"/>
          </p:cNvSpPr>
          <p:nvPr>
            <p:ph type="body" sz="quarter" idx="14"/>
          </p:nvPr>
        </p:nvSpPr>
        <p:spPr/>
        <p:txBody>
          <a:bodyPr/>
          <a:lstStyle/>
          <a:p>
            <a:r>
              <a:t>Various clinical modes via timing &amp; parameter configuration</a:t>
            </a:r>
          </a:p>
        </p:txBody>
      </p:sp>
      <p:sp>
        <p:nvSpPr>
          <p:cNvPr id="4" name="Content Placeholder 3"/>
          <p:cNvSpPr>
            <a:spLocks noGrp="1"/>
          </p:cNvSpPr>
          <p:nvPr>
            <p:ph sz="quarter" idx="19"/>
          </p:nvPr>
        </p:nvSpPr>
        <p:spPr/>
        <p:txBody>
          <a:bodyPr/>
          <a:lstStyle/>
          <a:p>
            <a:r>
              <a:rPr b="1"/>
              <a:t>Volume Control (VC)</a:t>
            </a:r>
          </a:p>
          <a:p>
            <a:pPr lvl="1"/>
            <a:r>
              <a:t>Insp Non-trig delivers full breath</a:t>
            </a:r>
          </a:p>
          <a:p>
            <a:pPr lvl="1"/>
            <a:r>
              <a:t>Support &amp; Synch skipped (time=0)</a:t>
            </a:r>
          </a:p>
          <a:p>
            <a:pPr lvl="1"/>
            <a:r>
              <a:t>Time-triggered, volume-cycled</a:t>
            </a:r>
          </a:p>
          <a:p>
            <a:endParaRPr/>
          </a:p>
          <a:p>
            <a:r>
              <a:rPr b="1"/>
              <a:t>Assist Control (AC)</a:t>
            </a:r>
          </a:p>
          <a:p>
            <a:pPr lvl="1"/>
            <a:r>
              <a:t>Backup mandatory breath timing</a:t>
            </a:r>
          </a:p>
          <a:p>
            <a:pPr lvl="1"/>
            <a:r>
              <a:t>Exp Synch active → patient triggering</a:t>
            </a:r>
          </a:p>
          <a:p>
            <a:pPr lvl="1"/>
            <a:r>
              <a:t>Full support on every breath</a:t>
            </a:r>
          </a:p>
        </p:txBody>
      </p:sp>
      <p:sp>
        <p:nvSpPr>
          <p:cNvPr id="5" name="Content Placeholder 4"/>
          <p:cNvSpPr>
            <a:spLocks noGrp="1"/>
          </p:cNvSpPr>
          <p:nvPr>
            <p:ph sz="quarter" idx="20"/>
          </p:nvPr>
        </p:nvSpPr>
        <p:spPr/>
        <p:txBody>
          <a:bodyPr/>
          <a:lstStyle/>
          <a:p>
            <a:r>
              <a:rPr b="1"/>
              <a:t>Pressure Support (PSV)</a:t>
            </a:r>
          </a:p>
          <a:p>
            <a:pPr lvl="1"/>
            <a:r>
              <a:t>Insp Support active with pressure</a:t>
            </a:r>
          </a:p>
          <a:p>
            <a:pPr lvl="1"/>
            <a:r>
              <a:t>Insp &amp; Exp Synch active</a:t>
            </a:r>
          </a:p>
          <a:p>
            <a:pPr lvl="1"/>
            <a:r>
              <a:t>Fully patient-triggered &amp; cycled</a:t>
            </a:r>
          </a:p>
          <a:p>
            <a:endParaRPr/>
          </a:p>
          <a:p>
            <a:r>
              <a:rPr b="1"/>
              <a:t>SIMV</a:t>
            </a:r>
          </a:p>
          <a:p>
            <a:pPr lvl="1"/>
            <a:r>
              <a:t>Mandatory (Non-trig) + Supported breaths</a:t>
            </a:r>
          </a:p>
          <a:p>
            <a:pPr lvl="1"/>
            <a:r>
              <a:t>Synch states coordinate with patient</a:t>
            </a:r>
          </a:p>
          <a:p>
            <a:pPr lvl="1"/>
            <a:r>
              <a:t>Combines mandatory &amp; spontaneous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Safety &amp; Design Advantages</a:t>
            </a:r>
          </a:p>
        </p:txBody>
      </p:sp>
      <p:sp>
        <p:nvSpPr>
          <p:cNvPr id="3" name="Text Placeholder 2"/>
          <p:cNvSpPr>
            <a:spLocks noGrp="1"/>
          </p:cNvSpPr>
          <p:nvPr>
            <p:ph type="body" sz="quarter" idx="14"/>
          </p:nvPr>
        </p:nvSpPr>
        <p:spPr/>
        <p:txBody>
          <a:bodyPr/>
          <a:lstStyle/>
          <a:p>
            <a:endParaRPr/>
          </a:p>
        </p:txBody>
      </p:sp>
      <p:sp>
        <p:nvSpPr>
          <p:cNvPr id="4" name="Content Placeholder 3"/>
          <p:cNvSpPr>
            <a:spLocks noGrp="1"/>
          </p:cNvSpPr>
          <p:nvPr>
            <p:ph sz="quarter" idx="19"/>
          </p:nvPr>
        </p:nvSpPr>
        <p:spPr/>
        <p:txBody>
          <a:bodyPr/>
          <a:lstStyle/>
          <a:p>
            <a:r>
              <a:rPr b="1"/>
              <a:t>Safety Considerations</a:t>
            </a:r>
          </a:p>
          <a:p>
            <a:pPr lvl="1"/>
            <a:r>
              <a:t>Pressure limiting always active (barotrauma prevention)</a:t>
            </a:r>
          </a:p>
          <a:p>
            <a:pPr lvl="1"/>
            <a:r>
              <a:t>Non-trig states ensure minimum ventilation</a:t>
            </a:r>
          </a:p>
          <a:p>
            <a:pPr lvl="1"/>
            <a:r>
              <a:t>Gradual adaptation prevents sudden volume changes</a:t>
            </a:r>
          </a:p>
          <a:p>
            <a:pPr lvl="1"/>
            <a:r>
              <a:t>Setpoint sanity checks in HLC</a:t>
            </a:r>
          </a:p>
          <a:p>
            <a:pPr lvl="1"/>
            <a:r>
              <a:t>Watchdog timers per state</a:t>
            </a:r>
          </a:p>
        </p:txBody>
      </p:sp>
      <p:sp>
        <p:nvSpPr>
          <p:cNvPr id="5" name="Content Placeholder 4"/>
          <p:cNvSpPr>
            <a:spLocks noGrp="1"/>
          </p:cNvSpPr>
          <p:nvPr>
            <p:ph sz="quarter" idx="20"/>
          </p:nvPr>
        </p:nvSpPr>
        <p:spPr/>
        <p:txBody>
          <a:bodyPr/>
          <a:lstStyle/>
          <a:p>
            <a:r>
              <a:rPr b="1"/>
              <a:t>Design Advantages</a:t>
            </a:r>
          </a:p>
          <a:p>
            <a:pPr lvl="1"/>
            <a:r>
              <a:t>Modularity – clear layer responsibilities</a:t>
            </a:r>
          </a:p>
          <a:p>
            <a:pPr lvl="1"/>
            <a:r>
              <a:t>No direct commands – reduced coupling</a:t>
            </a:r>
          </a:p>
          <a:p>
            <a:pPr lvl="1"/>
            <a:r>
              <a:t>Extensibility – new modes via config only</a:t>
            </a:r>
          </a:p>
          <a:p>
            <a:pPr lvl="1"/>
            <a:r>
              <a:t>Patient synchronization built-in</a:t>
            </a:r>
          </a:p>
          <a:p>
            <a:pPr lvl="1"/>
            <a:r>
              <a:t>Breath-to-breath adaptability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Execution Rates</a:t>
            </a:r>
          </a:p>
          <a:p>
            <a:pPr lvl="1"/>
            <a:r>
              <a:t>Layer 1 PID loops: 100 – 1000 Hz</a:t>
            </a:r>
          </a:p>
          <a:p>
            <a:pPr lvl="1"/>
            <a:r>
              <a:t>LLC: event-driven architecture</a:t>
            </a:r>
          </a:p>
          <a:p>
            <a:pPr lvl="1"/>
            <a:r>
              <a:t>HLC: fixed time base (10 – 50 Hz)</a:t>
            </a:r>
          </a:p>
          <a:p>
            <a:endParaRPr/>
          </a:p>
          <a:p>
            <a:r>
              <a:rPr b="1"/>
              <a:t>Parameter Updates</a:t>
            </a:r>
          </a:p>
          <a:p>
            <a:pPr lvl="1"/>
            <a:r>
              <a:t>Validate all parameter changes before applying</a:t>
            </a:r>
          </a:p>
          <a:p>
            <a:pPr lvl="1"/>
            <a:r>
              <a:t>Rate-limit parameter changes to prevent instability</a:t>
            </a:r>
          </a:p>
          <a:p>
            <a:pPr lvl="1"/>
            <a:r>
              <a:t>Log all setpoint changes for debugging &amp; clinical review</a:t>
            </a:r>
          </a:p>
          <a:p>
            <a:endParaRPr/>
          </a:p>
          <a:p>
            <a:r>
              <a:rPr b="1"/>
              <a:t>Testing Strategy</a:t>
            </a:r>
          </a:p>
          <a:p>
            <a:pPr lvl="1"/>
            <a:r>
              <a:t>Test each layer independently first</a:t>
            </a:r>
          </a:p>
          <a:p>
            <a:pPr lvl="1"/>
            <a:r>
              <a:t>Verify LLC response to setpoint changes</a:t>
            </a:r>
          </a:p>
          <a:p>
            <a:pPr lvl="1"/>
            <a:r>
              <a:t>Verify HLC state sequences for all modes</a:t>
            </a:r>
          </a:p>
          <a:p>
            <a:pPr lvl="1"/>
            <a:r>
              <a:t>Patient simulator testing with varying compliance/resistance</a:t>
            </a:r>
          </a:p>
        </p:txBody>
      </p:sp>
      <p:sp>
        <p:nvSpPr>
          <p:cNvPr id="3" name="Title 2"/>
          <p:cNvSpPr>
            <a:spLocks noGrp="1"/>
          </p:cNvSpPr>
          <p:nvPr>
            <p:ph type="title"/>
          </p:nvPr>
        </p:nvSpPr>
        <p:spPr/>
        <p:txBody>
          <a:bodyPr/>
          <a:lstStyle/>
          <a:p>
            <a:r>
              <a:t>Implementation Notes</a:t>
            </a:r>
          </a:p>
        </p:txBody>
      </p:sp>
      <p:sp>
        <p:nvSpPr>
          <p:cNvPr id="4" name="Text Placeholder 3"/>
          <p:cNvSpPr>
            <a:spLocks noGrp="1"/>
          </p:cNvSpPr>
          <p:nvPr>
            <p:ph type="body" sz="quarter" idx="14"/>
          </p:nvPr>
        </p:nvSpPr>
        <p:spPr/>
        <p:txBody>
          <a:bodyPr/>
          <a:lstStyle/>
          <a:p>
            <a:r>
              <a:t>Practical considerations for system design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522438-5191-4B64-B3C4-3D5BBBC5FFE5}">
  <ds:schemaRefs>
    <ds:schemaRef ds:uri="http://schemas.microsoft.com/sharepoint/v3/contenttype/forms"/>
  </ds:schemaRefs>
</ds:datastoreItem>
</file>

<file path=customXml/itemProps2.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3.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Getinge 16-9</Template>
  <TotalTime>41021</TotalTime>
  <Words>1627</Words>
  <Application>Microsoft Office PowerPoint</Application>
  <PresentationFormat>Widescreen</PresentationFormat>
  <Paragraphs>279</Paragraphs>
  <Slides>25</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LundaLoggern</vt:lpstr>
      <vt:lpstr>LundaLoggern</vt:lpstr>
      <vt:lpstr>LundaLoggern</vt:lpstr>
      <vt:lpstr>PowerPoint Presentation</vt:lpstr>
      <vt:lpstr>Layer 1 – Characteristics</vt:lpstr>
      <vt:lpstr>Layer 2</vt:lpstr>
      <vt:lpstr>LLC – Breathing Phase States</vt:lpstr>
      <vt:lpstr>LLC – Parameters (Set by HLC)</vt:lpstr>
      <vt:lpstr>LLC – Transitions &amp; Communication</vt:lpstr>
      <vt:lpstr>Layer 3</vt:lpstr>
      <vt:lpstr>HLC – 8-State Sequential Machine</vt:lpstr>
      <vt:lpstr>HLC – Inspiration States</vt:lpstr>
      <vt:lpstr>HLC – Expiration States</vt:lpstr>
      <vt:lpstr>HLC – State Transition Logic</vt:lpstr>
      <vt:lpstr>HLC – Timing Interface</vt:lpstr>
      <vt:lpstr>User Interface Layer</vt:lpstr>
      <vt:lpstr>Tidal Volume Control</vt:lpstr>
      <vt:lpstr>Pressure Support Mechanism</vt:lpstr>
      <vt:lpstr>Inspiratory Pause Implementation</vt:lpstr>
      <vt:lpstr>HLC – Indirect Control Philosophy</vt:lpstr>
      <vt:lpstr>Communication Between Layers</vt:lpstr>
      <vt:lpstr>Example Ventilation Modes</vt:lpstr>
      <vt:lpstr>Safety &amp; Design Advantages</vt:lpstr>
      <vt:lpstr>Implementation Notes</vt:lpstr>
      <vt:lpstr>PowerPoint Presentation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14</cp:revision>
  <dcterms:created xsi:type="dcterms:W3CDTF">2025-10-13T07:16:28Z</dcterms:created>
  <dcterms:modified xsi:type="dcterms:W3CDTF">2026-03-23T17:59:32Z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