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Ventilator Control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Control System for Medical Ventilators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Åke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914400"/>
          </a:xfrm>
          <a:prstGeom prst="rect">
            <a:avLst/>
          </a:prstGeom>
          <a:solidFill>
            <a:srgbClr val="3B82F6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Layer 3: High-Level Controller (HLC)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64008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8-state ventilation mode control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6400800" cy="9144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Layer 2: Low-Level Controller (LLC)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Breathing phase control (insufflation/exsufflation)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566160"/>
            <a:ext cx="6400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Layer 1: PID Controllers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Actuator control (O2, Air, Exp Valve, Blower)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2148840"/>
            <a:ext cx="548640" cy="18288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3611880"/>
            <a:ext cx="548640" cy="18288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Control Philosophy: Indirect control through setpoint manipulation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PID Controllers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O2 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Controls oxygen flow rate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37160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Air 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3464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Controls air flow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37160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Exp Valve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Controls expiratory pressure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1371600"/>
            <a:ext cx="1828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Blower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Controls blower flow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B5563"/>
                </a:solidFill>
              </a:rPr>
              <a:t>Characteristics: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Independent operation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Sensor scaling and linearization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Receives setpoints from LLC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Fast, stable control loops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Low-Level Controller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3474720" cy="1371600"/>
          </a:xfrm>
          <a:prstGeom prst="rect">
            <a:avLst/>
          </a:prstGeom>
          <a:solidFill>
            <a:srgbClr val="3B82F6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Insufflation State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Delivers gas to patient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Controls O2 and Air 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Maintains insp pressure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474720" cy="13716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Exsufflation State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Releases pressure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Controls exp valve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Maintains PEEP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1097280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2194560"/>
            <a:ext cx="1097280" cy="274320"/>
          </a:xfrm>
          <a:prstGeom prst="leftArrow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State Transitions: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Patient effort detection (flow/pressure triggers)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Setpoint changes from HLC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Pressure limiting for safety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LLC → HLC Communication: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</a:rPr>
              <a:t>State changes, measured tidal volume, pressure limit events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LLC Parameters (Set by HLC)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FiO2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0817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Fraction of inspired oxygen (0.21-1.0)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3840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2344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Insufflation Pressure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40817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Target pressure during inspiration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3840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190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Pressure Limit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8928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Maximum allowed airway pressure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673352"/>
            <a:ext cx="3840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7190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Exsufflation Pressure (PEEP)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8928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Target pressure during expiration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57984"/>
            <a:ext cx="3840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2037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Insufflation Flow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3774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Target flow rate during inspiration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2157984"/>
            <a:ext cx="3840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2037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Bias 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23774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Continuous flow during expiration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42616"/>
            <a:ext cx="3840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883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Max Inspiratory Flow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28620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Maximum allowed inspiratory flow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642616"/>
            <a:ext cx="3840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6883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Flow Trigger Threshold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28620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Flow change to detect patient effort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127248"/>
            <a:ext cx="3840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1729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Pressure Trigger Threshold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33467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Pressure change to detect patient effort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HLC controls LLC behavior by manipulating these setpoints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HLC Parameters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Timing Parameters: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Respiratory Rate (RR) - breaths per minute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I:E Ratio - inspiration to expiration time ratio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Inspiratory Pause Fraction - plateau time as fraction of cycle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State Durations - time for each of the 8 states (can be zero)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Pressure Parameters: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Inspiratory Pressure - baseline during inspiration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PEEP - baseline during expiration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Insp Support Pressure - boost when patient triggers in insp support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Exp Support Pressure - boost when patient triggers in exp support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Pressure Limit - maximum safety limit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Flow &amp; Volume Parameters: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</a:rPr>
              <a:t>Tidal Volume (Vt) - target volume per breath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Max Inspiratory Flow - flow rate limit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Bias Flow - continuous background flow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High-Level Controller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8-State Sequential State Machine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Inspiration Sequence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65760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Non-triggerable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Fixed mandatory breath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2212848"/>
            <a:ext cx="274320" cy="13716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377440"/>
            <a:ext cx="365760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23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Support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Patient can trigger pressure support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2944368"/>
            <a:ext cx="274320" cy="13716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108960"/>
            <a:ext cx="365760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54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Synch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Patient-synchronized transition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3675888"/>
            <a:ext cx="274320" cy="13716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840480"/>
            <a:ext cx="365760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86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Pause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114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Inspiratory plateau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Expiration Sequence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1645920"/>
            <a:ext cx="365760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691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5. Non-triggerable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Fixed expiration phase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212848"/>
            <a:ext cx="274320" cy="13716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2377440"/>
            <a:ext cx="365760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423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6. Support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2651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Patient can trigger support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2944368"/>
            <a:ext cx="274320" cy="13716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3108960"/>
            <a:ext cx="365760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154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7. Synch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Patient-synchronized transition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3675888"/>
            <a:ext cx="274320" cy="13716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4880" y="3840480"/>
            <a:ext cx="3657600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886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8. Pause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114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Expiratory pause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931920" y="4480560"/>
            <a:ext cx="548640" cy="365760"/>
          </a:xfrm>
          <a:prstGeom prst="curvedRightArrow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Tidal Volume Control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914400"/>
          </a:xfrm>
          <a:prstGeom prst="rect">
            <a:avLst/>
          </a:prstGeom>
          <a:solidFill>
            <a:srgbClr val="3B82F6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234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Initial Flow Calculation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Insufflation Flow = Vt / Active Inspiration 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Breath-to-Breath Adaptive Control: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1. Measure actual delivered tidal volume (Vt_measured)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2. Calculate error: ΔVt = Vt_target - Vt_measured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3. Gradually adjust flow setpoint for next breath: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   • If Vt_measured &lt; Vt_target → increase flow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   • If Vt_measured &gt; Vt_target → decrease flow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4206240"/>
            <a:ext cx="6400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251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Pressure-Limited Volume Control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4526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When pressure reaches limit → flow reduced → volume sacrificed for safety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Support Mechanism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solidFill>
            <a:srgbClr val="3B82F6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Inspiration Support State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When patient trigger detected: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LLC Insufflation Pressure = Insp Pressure + Insp Support Pressure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Expiration Support State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20040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</a:rPr>
              <a:t>When patient trigger detected: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4747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LLC Insufflation Pressure = PEEP + Exp Support Pressure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Benefits: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4805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Rewards patient inspiratory effort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Reduces work of breathing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Common in PSV (Pressure Support Ventilation) modes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Inspiratory Pause Implementation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Purpose: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</a:rPr>
              <a:t>Plateau pressure measurement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Assessment of static lung compliance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Equilibration of airway and alveolar pressures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2468880"/>
            <a:ext cx="6400800" cy="1371600"/>
          </a:xfrm>
          <a:prstGeom prst="rect">
            <a:avLst/>
          </a:prstGeom>
          <a:solidFill>
            <a:srgbClr val="3B82F6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514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Mechanism: Elegant Setpoint Manipulation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9260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 Flow → 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PEEP Setpoint → 100 cmH2O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566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Result: System is mechanically locked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</a:rPr>
              <a:t>No gas flows in (zero bias flow)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No gas escapes (exp valve closed, actual pressure &lt;&lt; 100 cmH2O)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Volume held constant without special pause mode logic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Advantages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37160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Modularity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15819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Clear separation of responsibilities across layers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38528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938528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No Direct Commands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Simplifies interfaces and reduces coupling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05456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505456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Extensibility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71576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New ventilation modes via timing/parameter configuration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72384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072384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Patient Synchronization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282696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Built into state machine architecture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39312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639312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Safety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849624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Multiple protection layers (LLC pressure limiting, HLC limits)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20624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Adaptability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441655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Breath-to-breath learning handles patient variability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Ventilator Control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Ventilator Control Architecture</dc:title>
  <dc:subject>PptxGenJS Presentation</dc:subject>
  <dc:creator>Åke</dc:creator>
  <cp:lastModifiedBy>Åke</cp:lastModifiedBy>
  <cp:revision>1</cp:revision>
  <dcterms:created xsi:type="dcterms:W3CDTF">2026-03-23T17:48:13Z</dcterms:created>
  <dcterms:modified xsi:type="dcterms:W3CDTF">2026-03-23T17:48:13Z</dcterms:modified>
</cp:coreProperties>
</file>